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335" r:id="rId5"/>
    <p:sldId id="343" r:id="rId6"/>
    <p:sldId id="355" r:id="rId7"/>
    <p:sldId id="356" r:id="rId8"/>
    <p:sldId id="351" r:id="rId9"/>
    <p:sldId id="357" r:id="rId10"/>
    <p:sldId id="359" r:id="rId11"/>
    <p:sldId id="358" r:id="rId1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C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5226" autoAdjust="0"/>
  </p:normalViewPr>
  <p:slideViewPr>
    <p:cSldViewPr snapToGrid="0">
      <p:cViewPr varScale="1">
        <p:scale>
          <a:sx n="112" d="100"/>
          <a:sy n="112" d="100"/>
        </p:scale>
        <p:origin x="616" y="192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7024EDB-1DF0-4458-BB3C-4584F5AC22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B6B34F3-5D63-4A81-9DF5-677AF991A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CF618-836E-4986-824A-A7ACAE2242B4}" type="datetime1">
              <a:rPr lang="it-IT" smtClean="0"/>
              <a:t>28/08/23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75DDF63-E9CC-4EA4-B318-24FDC7114C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0260D4-46DF-4DBD-8EF3-252087B7B7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B5876-A978-48B9-A6AF-2BB4B44FAED4}" type="slidenum">
              <a:rPr lang="it-IT" smtClean="0"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068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77FB8-9268-43E1-99D6-A4E11E9E1130}" type="datetime1">
              <a:rPr lang="it-IT" smtClean="0"/>
              <a:pPr/>
              <a:t>28/08/23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it-IT" noProof="0" smtClean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9481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573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1571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it-IT" noProof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egnaposto contenuto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ine del gior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it-IT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olo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5A4B708A-874B-4F75-A235-6908EB43FA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25" name="Segnaposto contenuto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olo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it-IT" noProof="0"/>
          </a:p>
        </p:txBody>
      </p:sp>
      <p:sp>
        <p:nvSpPr>
          <p:cNvPr id="10" name="Segnaposto grafico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it-IT" noProof="0"/>
              <a:t>Fare clic sull'icona per aggiungere un grafico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it-IT" noProof="0"/>
          </a:p>
        </p:txBody>
      </p:sp>
      <p:sp>
        <p:nvSpPr>
          <p:cNvPr id="3" name="Segnaposto tabella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it-IT" noProof="0"/>
              <a:t>Fare clic sull'icona per inserire una tabella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it-IT" noProof="0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 rtlCol="0"/>
          <a:lstStyle>
            <a:lvl1pPr>
              <a:defRPr sz="20000"/>
            </a:lvl1pPr>
          </a:lstStyle>
          <a:p>
            <a:pPr rtl="0"/>
            <a:r>
              <a:rPr lang="it-IT" noProof="0"/>
              <a:t>"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0" name="Segnaposto testo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1" name="Segnaposto testo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2" name="Segnaposto testo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3" name="Segnaposto testo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4" name="Segnaposto testo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5" name="Segnaposto testo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6" name="Segnaposto testo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7" name="Segnaposto immagine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8" name="Segnaposto immagine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9" name="Segnaposto immagine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0" name="Segnaposto immagine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5" name="Titolo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za tempora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olo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7" name="Segnaposto testo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8" name="Segnaposto testo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1" name="Segnaposto testo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2" name="Segnaposto testo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3" name="Segnaposto testo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4" name="Segnaposto testo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a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gnaposto contenuto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4" name="Titolo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Segnaposto testo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4" name="Segnaposto testo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a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contenuto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7" name="Segnaposto contenuto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9" name="Segnaposto contenuto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0" name="Titolo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Segnaposto testo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7" name="Segnaposto testo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8" name="Segnaposto testo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olo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zi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olo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25" name="Segnaposto contenuto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9" name="Segnaposto contenuto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3 settembre 20XX </a:t>
            </a:r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>
                <a:solidFill>
                  <a:schemeClr val="bg1"/>
                </a:solidFill>
              </a:rPr>
              <a:t>Relazione annuale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7782931A-7D25-4B4B-9464-57AE418934A3}" type="slidenum">
              <a:rPr lang="it-IT" noProof="0" smtClean="0"/>
              <a:pPr rtl="0"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IDA-ML1 Challenge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95E288-8D21-CA9F-F623-A96CD3B66CD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dirty="0"/>
              <a:t>Emanuele De Rossi</a:t>
            </a:r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Dataset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B1B212F3-47DF-45DE-1BE1-EC92ABCE3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7" y="2224090"/>
            <a:ext cx="11444659" cy="411254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A2EACD4D-7768-AFCB-5F9F-4EBBFC9D43CD}"/>
              </a:ext>
            </a:extLst>
          </p:cNvPr>
          <p:cNvSpPr/>
          <p:nvPr/>
        </p:nvSpPr>
        <p:spPr>
          <a:xfrm>
            <a:off x="11123721" y="2224089"/>
            <a:ext cx="569876" cy="4112541"/>
          </a:xfrm>
          <a:prstGeom prst="rect">
            <a:avLst/>
          </a:prstGeom>
          <a:solidFill>
            <a:srgbClr val="FDF3CE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892DB-E77D-3CB9-0C4D-234C8E28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NaN</a:t>
            </a:r>
            <a:r>
              <a:rPr lang="it-IT" dirty="0"/>
              <a:t> </a:t>
            </a:r>
            <a:r>
              <a:rPr lang="it-IT" dirty="0" err="1"/>
              <a:t>values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4E3988-B387-D112-B7FE-D862BD70B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4"/>
            <a:ext cx="4876800" cy="1580143"/>
          </a:xfrm>
        </p:spPr>
        <p:txBody>
          <a:bodyPr/>
          <a:lstStyle/>
          <a:p>
            <a:r>
              <a:rPr lang="it-IT" dirty="0"/>
              <a:t>On the dataset,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abg_glucose_level</a:t>
            </a:r>
            <a:r>
              <a:rPr lang="it-IT" dirty="0"/>
              <a:t> and </a:t>
            </a:r>
            <a:r>
              <a:rPr lang="it-IT" dirty="0" err="1"/>
              <a:t>bmi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</a:t>
            </a:r>
          </a:p>
          <a:p>
            <a:r>
              <a:rPr lang="it-IT" dirty="0"/>
              <a:t>In the dataset, 1552/5000 </a:t>
            </a:r>
            <a:r>
              <a:rPr lang="it-IT" dirty="0" err="1"/>
              <a:t>instances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bmi</a:t>
            </a:r>
            <a:r>
              <a:rPr lang="it-IT" dirty="0"/>
              <a:t>.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E7789AC-19E3-1D6E-DE47-052E2CFCB7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36018" y="3747531"/>
            <a:ext cx="4651034" cy="3036696"/>
          </a:xfrm>
        </p:spPr>
        <p:txBody>
          <a:bodyPr/>
          <a:lstStyle/>
          <a:p>
            <a:r>
              <a:rPr lang="it-IT" dirty="0" err="1"/>
              <a:t>Different</a:t>
            </a:r>
            <a:r>
              <a:rPr lang="it-IT" dirty="0"/>
              <a:t> ways to deal with </a:t>
            </a:r>
            <a:r>
              <a:rPr lang="it-IT" dirty="0" err="1"/>
              <a:t>NaN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: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Eliminite</a:t>
            </a:r>
            <a:r>
              <a:rPr lang="it-IT" dirty="0"/>
              <a:t> </a:t>
            </a:r>
            <a:r>
              <a:rPr lang="it-IT" dirty="0" err="1"/>
              <a:t>rows</a:t>
            </a:r>
            <a:r>
              <a:rPr lang="it-IT" dirty="0"/>
              <a:t> or </a:t>
            </a:r>
            <a:r>
              <a:rPr lang="it-IT" dirty="0" err="1"/>
              <a:t>columns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contain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 err="1"/>
              <a:t>Replace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with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: I </a:t>
            </a:r>
            <a:r>
              <a:rPr lang="it-IT" dirty="0" err="1"/>
              <a:t>decided</a:t>
            </a:r>
            <a:r>
              <a:rPr lang="it-IT" dirty="0"/>
              <a:t> to </a:t>
            </a:r>
            <a:r>
              <a:rPr lang="it-IT" dirty="0" err="1"/>
              <a:t>replace</a:t>
            </a:r>
            <a:r>
              <a:rPr lang="it-IT" dirty="0"/>
              <a:t> the </a:t>
            </a:r>
            <a:r>
              <a:rPr lang="it-IT" dirty="0" err="1"/>
              <a:t>NaN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with the </a:t>
            </a:r>
            <a:r>
              <a:rPr lang="it-IT" b="1" dirty="0" err="1"/>
              <a:t>median</a:t>
            </a:r>
            <a:r>
              <a:rPr lang="it-IT" dirty="0"/>
              <a:t> of the </a:t>
            </a:r>
            <a:r>
              <a:rPr lang="it-IT" dirty="0" err="1"/>
              <a:t>columns</a:t>
            </a:r>
            <a:r>
              <a:rPr lang="it-IT" dirty="0"/>
              <a:t> (</a:t>
            </a:r>
            <a:r>
              <a:rPr lang="it-IT" dirty="0" err="1"/>
              <a:t>not</a:t>
            </a:r>
            <a:r>
              <a:rPr lang="it-IT" dirty="0"/>
              <a:t> the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of the high </a:t>
            </a:r>
            <a:r>
              <a:rPr lang="it-IT" dirty="0" err="1"/>
              <a:t>variance</a:t>
            </a:r>
            <a:r>
              <a:rPr lang="it-IT" dirty="0"/>
              <a:t>) </a:t>
            </a:r>
            <a:r>
              <a:rPr lang="it-IT" dirty="0">
                <a:sym typeface="Wingdings" panose="05000000000000000000" pitchFamily="2" charset="2"/>
              </a:rPr>
              <a:t> </a:t>
            </a:r>
          </a:p>
          <a:p>
            <a:pPr marL="285750" indent="-285750">
              <a:buFontTx/>
              <a:buChar char="-"/>
            </a:pPr>
            <a:r>
              <a:rPr lang="it-IT" dirty="0" err="1"/>
              <a:t>Another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«</a:t>
            </a:r>
            <a:r>
              <a:rPr lang="it-IT" i="1" dirty="0" err="1"/>
              <a:t>Unknow</a:t>
            </a:r>
            <a:r>
              <a:rPr lang="it-IT" dirty="0"/>
              <a:t>» </a:t>
            </a:r>
            <a:r>
              <a:rPr lang="it-IT" dirty="0" err="1"/>
              <a:t>value</a:t>
            </a:r>
            <a:r>
              <a:rPr lang="it-IT" dirty="0"/>
              <a:t> on </a:t>
            </a:r>
            <a:r>
              <a:rPr lang="it-IT" i="1" dirty="0" err="1"/>
              <a:t>smoking_status</a:t>
            </a:r>
            <a:r>
              <a:rPr lang="it-IT" dirty="0"/>
              <a:t>. I just </a:t>
            </a:r>
            <a:r>
              <a:rPr lang="it-IT" dirty="0" err="1"/>
              <a:t>replaced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with 0s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converting</a:t>
            </a:r>
            <a:r>
              <a:rPr lang="it-IT" dirty="0"/>
              <a:t> </a:t>
            </a:r>
            <a:r>
              <a:rPr lang="it-IT" dirty="0" err="1"/>
              <a:t>categorical</a:t>
            </a:r>
            <a:r>
              <a:rPr lang="it-IT" dirty="0"/>
              <a:t> to </a:t>
            </a:r>
            <a:r>
              <a:rPr lang="it-IT" dirty="0" err="1"/>
              <a:t>numerical</a:t>
            </a:r>
            <a:r>
              <a:rPr lang="it-IT" dirty="0"/>
              <a:t> </a:t>
            </a:r>
            <a:r>
              <a:rPr lang="it-IT" dirty="0" err="1"/>
              <a:t>value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BE77A7C-EA48-4786-F7FC-8E2842343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03141" cy="68580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4647B48-85F9-E8EE-0B18-ACD75D968D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9000" r="7966" b="4455"/>
          <a:stretch/>
        </p:blipFill>
        <p:spPr>
          <a:xfrm>
            <a:off x="8797770" y="4037247"/>
            <a:ext cx="3318313" cy="243933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C6D0A38-4F42-6F77-69F4-616FB4E6E2C8}"/>
              </a:ext>
            </a:extLst>
          </p:cNvPr>
          <p:cNvSpPr txBox="1"/>
          <p:nvPr/>
        </p:nvSpPr>
        <p:spPr>
          <a:xfrm>
            <a:off x="9922856" y="6519446"/>
            <a:ext cx="19639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i="1" dirty="0">
                <a:solidFill>
                  <a:schemeClr val="bg1"/>
                </a:solidFill>
              </a:rPr>
              <a:t>BMI </a:t>
            </a:r>
            <a:r>
              <a:rPr lang="it-IT" sz="1600" i="1" dirty="0" err="1">
                <a:solidFill>
                  <a:schemeClr val="bg1"/>
                </a:solidFill>
              </a:rPr>
              <a:t>distribution</a:t>
            </a:r>
            <a:endParaRPr lang="it-IT" sz="1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28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892DB-E77D-3CB9-0C4D-234C8E28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Unbalanced</a:t>
            </a:r>
            <a:r>
              <a:rPr lang="it-IT" dirty="0"/>
              <a:t> dataset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E7789AC-19E3-1D6E-DE47-052E2CFCB7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49612" y="2220874"/>
            <a:ext cx="4876800" cy="1889487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on </a:t>
            </a:r>
            <a:r>
              <a:rPr lang="it-IT" dirty="0" err="1"/>
              <a:t>our</a:t>
            </a:r>
            <a:r>
              <a:rPr lang="it-IT" dirty="0"/>
              <a:t> dataset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distribution</a:t>
            </a:r>
            <a:r>
              <a:rPr lang="it-IT" dirty="0"/>
              <a:t> on the target </a:t>
            </a:r>
            <a:r>
              <a:rPr lang="it-IT" dirty="0" err="1"/>
              <a:t>variable</a:t>
            </a:r>
            <a:r>
              <a:rPr lang="it-IT" dirty="0"/>
              <a:t> (stroke vs no stroke)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unbalanced</a:t>
            </a:r>
            <a:r>
              <a:rPr lang="it-IT" dirty="0"/>
              <a:t>.</a:t>
            </a:r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problematic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lot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positive </a:t>
            </a:r>
            <a:r>
              <a:rPr lang="it-IT" dirty="0" err="1"/>
              <a:t>instances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negatives</a:t>
            </a:r>
            <a:r>
              <a:rPr lang="it-IT" dirty="0"/>
              <a:t>, </a:t>
            </a:r>
            <a:r>
              <a:rPr lang="it-IT" dirty="0" err="1"/>
              <a:t>our</a:t>
            </a:r>
            <a:r>
              <a:rPr lang="it-IT" dirty="0"/>
              <a:t> ML model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a </a:t>
            </a:r>
            <a:r>
              <a:rPr lang="it-IT" dirty="0" err="1"/>
              <a:t>lot</a:t>
            </a:r>
            <a:r>
              <a:rPr lang="it-IT" dirty="0"/>
              <a:t> of from the negative </a:t>
            </a:r>
            <a:r>
              <a:rPr lang="it-IT" dirty="0" err="1"/>
              <a:t>instances</a:t>
            </a:r>
            <a:r>
              <a:rPr lang="it-IT" dirty="0"/>
              <a:t>, and «</a:t>
            </a:r>
            <a:r>
              <a:rPr lang="it-IT" dirty="0" err="1"/>
              <a:t>overlook</a:t>
            </a:r>
            <a:r>
              <a:rPr lang="it-IT" dirty="0"/>
              <a:t>» the positive samples.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2F38E0C-E9F5-ABD0-869E-6AE375982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1" t="5872" r="10000" b="16863"/>
          <a:stretch/>
        </p:blipFill>
        <p:spPr>
          <a:xfrm>
            <a:off x="321126" y="1282417"/>
            <a:ext cx="5774874" cy="429316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FAC0229-CED5-527F-3BA1-0B3DAC31F298}"/>
              </a:ext>
            </a:extLst>
          </p:cNvPr>
          <p:cNvSpPr txBox="1"/>
          <p:nvPr/>
        </p:nvSpPr>
        <p:spPr>
          <a:xfrm>
            <a:off x="6334202" y="5246176"/>
            <a:ext cx="487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So I </a:t>
            </a:r>
            <a:r>
              <a:rPr lang="it-IT" dirty="0" err="1">
                <a:solidFill>
                  <a:schemeClr val="bg1"/>
                </a:solidFill>
              </a:rPr>
              <a:t>upsampled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minority</a:t>
            </a:r>
            <a:r>
              <a:rPr lang="it-IT" dirty="0">
                <a:solidFill>
                  <a:schemeClr val="bg1"/>
                </a:solidFill>
              </a:rPr>
              <a:t> class by </a:t>
            </a:r>
            <a:r>
              <a:rPr lang="it-IT" dirty="0" err="1">
                <a:solidFill>
                  <a:schemeClr val="bg1"/>
                </a:solidFill>
              </a:rPr>
              <a:t>duplicating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instances</a:t>
            </a:r>
            <a:r>
              <a:rPr lang="it-IT" dirty="0">
                <a:solidFill>
                  <a:schemeClr val="bg1"/>
                </a:solidFill>
              </a:rPr>
              <a:t>, so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have</a:t>
            </a:r>
            <a:r>
              <a:rPr lang="it-IT" dirty="0">
                <a:solidFill>
                  <a:schemeClr val="bg1"/>
                </a:solidFill>
              </a:rPr>
              <a:t> a 50/50 </a:t>
            </a:r>
            <a:r>
              <a:rPr lang="it-IT" dirty="0" err="1">
                <a:solidFill>
                  <a:schemeClr val="bg1"/>
                </a:solidFill>
              </a:rPr>
              <a:t>distribution</a:t>
            </a:r>
            <a:r>
              <a:rPr lang="it-IT" dirty="0">
                <a:solidFill>
                  <a:schemeClr val="bg1"/>
                </a:solidFill>
              </a:rPr>
              <a:t> of stroke/no stroke </a:t>
            </a:r>
            <a:r>
              <a:rPr lang="it-IT" dirty="0" err="1">
                <a:solidFill>
                  <a:schemeClr val="bg1"/>
                </a:solidFill>
              </a:rPr>
              <a:t>instances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65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B324FA0-0DB4-3942-B6B8-27D09C4F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68" y="354367"/>
            <a:ext cx="7810500" cy="645284"/>
          </a:xfrm>
        </p:spPr>
        <p:txBody>
          <a:bodyPr rtlCol="0"/>
          <a:lstStyle/>
          <a:p>
            <a:pPr rtl="0"/>
            <a:r>
              <a:rPr lang="it-IT" dirty="0"/>
              <a:t>Model </a:t>
            </a:r>
            <a:r>
              <a:rPr lang="it-IT" dirty="0" err="1"/>
              <a:t>choice</a:t>
            </a:r>
            <a:r>
              <a:rPr lang="it-IT" dirty="0"/>
              <a:t>?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A41A626-E5F4-44E0-28BD-8A42475C07E2}"/>
              </a:ext>
            </a:extLst>
          </p:cNvPr>
          <p:cNvSpPr txBox="1"/>
          <p:nvPr/>
        </p:nvSpPr>
        <p:spPr>
          <a:xfrm>
            <a:off x="1475874" y="2422358"/>
            <a:ext cx="8325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I </a:t>
            </a:r>
            <a:r>
              <a:rPr lang="it-IT" dirty="0" err="1">
                <a:solidFill>
                  <a:schemeClr val="bg1"/>
                </a:solidFill>
              </a:rPr>
              <a:t>decided</a:t>
            </a:r>
            <a:r>
              <a:rPr lang="it-IT" dirty="0">
                <a:solidFill>
                  <a:schemeClr val="bg1"/>
                </a:solidFill>
              </a:rPr>
              <a:t> to use </a:t>
            </a:r>
            <a:r>
              <a:rPr lang="it-IT" b="1" dirty="0">
                <a:solidFill>
                  <a:schemeClr val="bg1"/>
                </a:solidFill>
              </a:rPr>
              <a:t>random </a:t>
            </a:r>
            <a:r>
              <a:rPr lang="it-IT" b="1" dirty="0" err="1">
                <a:solidFill>
                  <a:schemeClr val="bg1"/>
                </a:solidFill>
              </a:rPr>
              <a:t>forests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because</a:t>
            </a:r>
            <a:r>
              <a:rPr lang="it-IT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Generally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b="1" dirty="0">
                <a:solidFill>
                  <a:schemeClr val="bg1"/>
                </a:solidFill>
              </a:rPr>
              <a:t>high </a:t>
            </a:r>
            <a:r>
              <a:rPr lang="it-IT" b="1" dirty="0" err="1">
                <a:solidFill>
                  <a:schemeClr val="bg1"/>
                </a:solidFill>
              </a:rPr>
              <a:t>acccuracy</a:t>
            </a:r>
            <a:r>
              <a:rPr lang="it-IT" dirty="0">
                <a:solidFill>
                  <a:schemeClr val="bg1"/>
                </a:solidFill>
              </a:rPr>
              <a:t>,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They</a:t>
            </a:r>
            <a:r>
              <a:rPr lang="it-IT" dirty="0">
                <a:solidFill>
                  <a:schemeClr val="bg1"/>
                </a:solidFill>
              </a:rPr>
              <a:t> are </a:t>
            </a:r>
            <a:r>
              <a:rPr lang="it-IT" b="1" dirty="0" err="1">
                <a:solidFill>
                  <a:schemeClr val="bg1"/>
                </a:solidFill>
              </a:rPr>
              <a:t>less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likely</a:t>
            </a:r>
            <a:r>
              <a:rPr lang="it-IT" b="1" dirty="0">
                <a:solidFill>
                  <a:schemeClr val="bg1"/>
                </a:solidFill>
              </a:rPr>
              <a:t> to </a:t>
            </a:r>
            <a:r>
              <a:rPr lang="it-IT" b="1" dirty="0" err="1">
                <a:solidFill>
                  <a:schemeClr val="bg1"/>
                </a:solidFill>
              </a:rPr>
              <a:t>overfit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compared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individual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decision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trees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Fairly</a:t>
            </a:r>
            <a:r>
              <a:rPr lang="it-IT" dirty="0">
                <a:solidFill>
                  <a:schemeClr val="bg1"/>
                </a:solidFill>
              </a:rPr>
              <a:t> easy to </a:t>
            </a:r>
            <a:r>
              <a:rPr lang="it-IT" dirty="0" err="1">
                <a:solidFill>
                  <a:schemeClr val="bg1"/>
                </a:solidFill>
              </a:rPr>
              <a:t>implement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train</a:t>
            </a:r>
            <a:r>
              <a:rPr lang="it-IT" dirty="0">
                <a:solidFill>
                  <a:schemeClr val="bg1"/>
                </a:solidFill>
              </a:rPr>
              <a:t>: no </a:t>
            </a:r>
            <a:r>
              <a:rPr lang="it-IT" dirty="0" err="1">
                <a:solidFill>
                  <a:schemeClr val="bg1"/>
                </a:solidFill>
              </a:rPr>
              <a:t>need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normalize</a:t>
            </a:r>
            <a:r>
              <a:rPr lang="it-IT" dirty="0">
                <a:solidFill>
                  <a:schemeClr val="bg1"/>
                </a:solidFill>
              </a:rPr>
              <a:t>/</a:t>
            </a:r>
            <a:r>
              <a:rPr lang="it-IT" dirty="0" err="1">
                <a:solidFill>
                  <a:schemeClr val="bg1"/>
                </a:solidFill>
              </a:rPr>
              <a:t>standardize</a:t>
            </a:r>
            <a:r>
              <a:rPr lang="it-IT" dirty="0">
                <a:solidFill>
                  <a:schemeClr val="bg1"/>
                </a:solidFill>
              </a:rPr>
              <a:t> the data, training </a:t>
            </a:r>
            <a:r>
              <a:rPr lang="it-IT" dirty="0" err="1">
                <a:solidFill>
                  <a:schemeClr val="bg1"/>
                </a:solidFill>
              </a:rPr>
              <a:t>individual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trees</a:t>
            </a:r>
            <a:r>
              <a:rPr lang="it-IT" dirty="0">
                <a:solidFill>
                  <a:schemeClr val="bg1"/>
                </a:solidFill>
              </a:rPr>
              <a:t> can be </a:t>
            </a:r>
            <a:r>
              <a:rPr lang="it-IT" dirty="0" err="1">
                <a:solidFill>
                  <a:schemeClr val="bg1"/>
                </a:solidFill>
              </a:rPr>
              <a:t>done</a:t>
            </a:r>
            <a:r>
              <a:rPr lang="it-IT" dirty="0">
                <a:solidFill>
                  <a:schemeClr val="bg1"/>
                </a:solidFill>
              </a:rPr>
              <a:t> in </a:t>
            </a:r>
            <a:r>
              <a:rPr lang="it-IT" dirty="0" err="1">
                <a:solidFill>
                  <a:schemeClr val="bg1"/>
                </a:solidFill>
              </a:rPr>
              <a:t>parallel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faster</a:t>
            </a:r>
            <a:r>
              <a:rPr lang="it-IT" dirty="0">
                <a:solidFill>
                  <a:schemeClr val="bg1"/>
                </a:solidFill>
              </a:rPr>
              <a:t> training)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Explainability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using</a:t>
            </a:r>
            <a:r>
              <a:rPr lang="it-IT" dirty="0">
                <a:solidFill>
                  <a:schemeClr val="bg1"/>
                </a:solidFill>
              </a:rPr>
              <a:t> random </a:t>
            </a:r>
            <a:r>
              <a:rPr lang="it-IT" dirty="0" err="1">
                <a:solidFill>
                  <a:schemeClr val="bg1"/>
                </a:solidFill>
              </a:rPr>
              <a:t>forests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can </a:t>
            </a:r>
            <a:r>
              <a:rPr lang="it-IT" dirty="0" err="1">
                <a:solidFill>
                  <a:schemeClr val="bg1"/>
                </a:solidFill>
              </a:rPr>
              <a:t>easily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extract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b="1" dirty="0">
                <a:solidFill>
                  <a:schemeClr val="bg1"/>
                </a:solidFill>
              </a:rPr>
              <a:t>feature </a:t>
            </a:r>
            <a:r>
              <a:rPr lang="it-IT" b="1" dirty="0" err="1">
                <a:solidFill>
                  <a:schemeClr val="bg1"/>
                </a:solidFill>
              </a:rPr>
              <a:t>importance</a:t>
            </a:r>
            <a:r>
              <a:rPr lang="it-IT" b="1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which</a:t>
            </a:r>
            <a:r>
              <a:rPr lang="it-IT" dirty="0">
                <a:solidFill>
                  <a:schemeClr val="bg1"/>
                </a:solidFill>
              </a:rPr>
              <a:t> features </a:t>
            </a:r>
            <a:r>
              <a:rPr lang="it-IT" dirty="0" err="1">
                <a:solidFill>
                  <a:schemeClr val="bg1"/>
                </a:solidFill>
              </a:rPr>
              <a:t>have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most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significant</a:t>
            </a:r>
            <a:r>
              <a:rPr lang="it-IT" dirty="0">
                <a:solidFill>
                  <a:schemeClr val="bg1"/>
                </a:solidFill>
              </a:rPr>
              <a:t> impact on the </a:t>
            </a:r>
            <a:r>
              <a:rPr lang="it-IT" dirty="0" err="1">
                <a:solidFill>
                  <a:schemeClr val="bg1"/>
                </a:solidFill>
              </a:rPr>
              <a:t>model’s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predictions</a:t>
            </a:r>
            <a:r>
              <a:rPr lang="it-IT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8577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55730C22-5A21-FC82-E138-2B8CAC0AA3D4}"/>
              </a:ext>
            </a:extLst>
          </p:cNvPr>
          <p:cNvSpPr/>
          <p:nvPr/>
        </p:nvSpPr>
        <p:spPr>
          <a:xfrm>
            <a:off x="828654" y="4974859"/>
            <a:ext cx="2498588" cy="13014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1AEC79B-4743-6C78-04EE-5474BFDDD6C5}"/>
              </a:ext>
            </a:extLst>
          </p:cNvPr>
          <p:cNvSpPr/>
          <p:nvPr/>
        </p:nvSpPr>
        <p:spPr>
          <a:xfrm>
            <a:off x="615269" y="2218180"/>
            <a:ext cx="3051210" cy="1460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C426385-5EF9-5D5E-D288-A7D09971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616" y="965632"/>
            <a:ext cx="7810500" cy="645284"/>
          </a:xfrm>
        </p:spPr>
        <p:txBody>
          <a:bodyPr/>
          <a:lstStyle/>
          <a:p>
            <a:r>
              <a:rPr lang="it-IT" dirty="0"/>
              <a:t>Model training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F91D5E5-DDC0-9A15-D0E4-8AAE2CDE08C0}"/>
              </a:ext>
            </a:extLst>
          </p:cNvPr>
          <p:cNvSpPr txBox="1"/>
          <p:nvPr/>
        </p:nvSpPr>
        <p:spPr>
          <a:xfrm flipH="1">
            <a:off x="793556" y="5014253"/>
            <a:ext cx="2533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{'</a:t>
            </a:r>
            <a:r>
              <a:rPr lang="it-IT" dirty="0" err="1">
                <a:solidFill>
                  <a:schemeClr val="bg1"/>
                </a:solidFill>
              </a:rPr>
              <a:t>max_depth</a:t>
            </a:r>
            <a:r>
              <a:rPr lang="it-IT" dirty="0">
                <a:solidFill>
                  <a:schemeClr val="bg1"/>
                </a:solidFill>
              </a:rPr>
              <a:t>': None, '</a:t>
            </a:r>
            <a:r>
              <a:rPr lang="it-IT" dirty="0" err="1">
                <a:solidFill>
                  <a:schemeClr val="bg1"/>
                </a:solidFill>
              </a:rPr>
              <a:t>min_samples_leaf</a:t>
            </a:r>
            <a:r>
              <a:rPr lang="it-IT" dirty="0">
                <a:solidFill>
                  <a:schemeClr val="bg1"/>
                </a:solidFill>
              </a:rPr>
              <a:t>': 5, '</a:t>
            </a:r>
            <a:r>
              <a:rPr lang="it-IT" dirty="0" err="1">
                <a:solidFill>
                  <a:schemeClr val="bg1"/>
                </a:solidFill>
              </a:rPr>
              <a:t>min_samples_split</a:t>
            </a:r>
            <a:r>
              <a:rPr lang="it-IT" dirty="0">
                <a:solidFill>
                  <a:schemeClr val="bg1"/>
                </a:solidFill>
              </a:rPr>
              <a:t>': 5, '</a:t>
            </a:r>
            <a:r>
              <a:rPr lang="it-IT" dirty="0" err="1">
                <a:solidFill>
                  <a:schemeClr val="bg1"/>
                </a:solidFill>
              </a:rPr>
              <a:t>n_estimators</a:t>
            </a:r>
            <a:r>
              <a:rPr lang="it-IT" dirty="0">
                <a:solidFill>
                  <a:schemeClr val="bg1"/>
                </a:solidFill>
              </a:rPr>
              <a:t>': 300}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6EFE8E-D362-DFF3-F561-E3ABEFA4448C}"/>
              </a:ext>
            </a:extLst>
          </p:cNvPr>
          <p:cNvSpPr txBox="1"/>
          <p:nvPr/>
        </p:nvSpPr>
        <p:spPr>
          <a:xfrm>
            <a:off x="615269" y="2218180"/>
            <a:ext cx="305121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60" dirty="0" err="1">
                <a:solidFill>
                  <a:schemeClr val="bg1"/>
                </a:solidFill>
              </a:rPr>
              <a:t>param_grid</a:t>
            </a:r>
            <a:r>
              <a:rPr lang="it-IT" sz="1260" dirty="0">
                <a:solidFill>
                  <a:schemeClr val="bg1"/>
                </a:solidFill>
              </a:rPr>
              <a:t> = {</a:t>
            </a:r>
          </a:p>
          <a:p>
            <a:r>
              <a:rPr lang="it-IT" sz="1260" dirty="0">
                <a:solidFill>
                  <a:schemeClr val="bg1"/>
                </a:solidFill>
              </a:rPr>
              <a:t>    '</a:t>
            </a:r>
            <a:r>
              <a:rPr lang="it-IT" sz="1260" dirty="0" err="1">
                <a:solidFill>
                  <a:schemeClr val="bg1"/>
                </a:solidFill>
              </a:rPr>
              <a:t>n_estimators</a:t>
            </a:r>
            <a:r>
              <a:rPr lang="it-IT" sz="1260" dirty="0">
                <a:solidFill>
                  <a:schemeClr val="bg1"/>
                </a:solidFill>
              </a:rPr>
              <a:t>': [20, 50, 100, 200, 300, 500, 1000], </a:t>
            </a:r>
          </a:p>
          <a:p>
            <a:r>
              <a:rPr lang="it-IT" sz="1260" dirty="0">
                <a:solidFill>
                  <a:schemeClr val="bg1"/>
                </a:solidFill>
              </a:rPr>
              <a:t>    '</a:t>
            </a:r>
            <a:r>
              <a:rPr lang="it-IT" sz="1260" dirty="0" err="1">
                <a:solidFill>
                  <a:schemeClr val="bg1"/>
                </a:solidFill>
              </a:rPr>
              <a:t>max_depth</a:t>
            </a:r>
            <a:r>
              <a:rPr lang="it-IT" sz="1260" dirty="0">
                <a:solidFill>
                  <a:schemeClr val="bg1"/>
                </a:solidFill>
              </a:rPr>
              <a:t>': [None, 10, 20, 30, 40],</a:t>
            </a:r>
          </a:p>
          <a:p>
            <a:r>
              <a:rPr lang="it-IT" sz="1260" dirty="0">
                <a:solidFill>
                  <a:schemeClr val="bg1"/>
                </a:solidFill>
              </a:rPr>
              <a:t>    '</a:t>
            </a:r>
            <a:r>
              <a:rPr lang="it-IT" sz="1260" dirty="0" err="1">
                <a:solidFill>
                  <a:schemeClr val="bg1"/>
                </a:solidFill>
              </a:rPr>
              <a:t>min_samples_split</a:t>
            </a:r>
            <a:r>
              <a:rPr lang="it-IT" sz="1260" dirty="0">
                <a:solidFill>
                  <a:schemeClr val="bg1"/>
                </a:solidFill>
              </a:rPr>
              <a:t>': [3, 5, 10, 15, 20],</a:t>
            </a:r>
          </a:p>
          <a:p>
            <a:r>
              <a:rPr lang="it-IT" sz="1260" dirty="0">
                <a:solidFill>
                  <a:schemeClr val="bg1"/>
                </a:solidFill>
              </a:rPr>
              <a:t>    '</a:t>
            </a:r>
            <a:r>
              <a:rPr lang="it-IT" sz="1260" dirty="0" err="1">
                <a:solidFill>
                  <a:schemeClr val="bg1"/>
                </a:solidFill>
              </a:rPr>
              <a:t>min_samples_leaf</a:t>
            </a:r>
            <a:r>
              <a:rPr lang="it-IT" sz="1260" dirty="0">
                <a:solidFill>
                  <a:schemeClr val="bg1"/>
                </a:solidFill>
              </a:rPr>
              <a:t>': [3, 5, 10, 15, 20]</a:t>
            </a:r>
          </a:p>
          <a:p>
            <a:r>
              <a:rPr lang="it-IT" sz="126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F655C0C-01B0-6A2E-307B-0AD8B6F78F3D}"/>
              </a:ext>
            </a:extLst>
          </p:cNvPr>
          <p:cNvSpPr txBox="1"/>
          <p:nvPr/>
        </p:nvSpPr>
        <p:spPr>
          <a:xfrm>
            <a:off x="4901865" y="2797223"/>
            <a:ext cx="6674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After </a:t>
            </a:r>
            <a:r>
              <a:rPr lang="it-IT" dirty="0" err="1">
                <a:solidFill>
                  <a:schemeClr val="bg1"/>
                </a:solidFill>
              </a:rPr>
              <a:t>dividing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into</a:t>
            </a:r>
            <a:r>
              <a:rPr lang="it-IT" dirty="0">
                <a:solidFill>
                  <a:schemeClr val="bg1"/>
                </a:solidFill>
              </a:rPr>
              <a:t> the training set </a:t>
            </a:r>
            <a:r>
              <a:rPr lang="it-IT" dirty="0" err="1">
                <a:solidFill>
                  <a:schemeClr val="bg1"/>
                </a:solidFill>
              </a:rPr>
              <a:t>into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train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evaluation</a:t>
            </a:r>
            <a:r>
              <a:rPr lang="it-IT" dirty="0">
                <a:solidFill>
                  <a:schemeClr val="bg1"/>
                </a:solidFill>
              </a:rPr>
              <a:t>, I </a:t>
            </a:r>
            <a:r>
              <a:rPr lang="it-IT" dirty="0" err="1">
                <a:solidFill>
                  <a:schemeClr val="bg1"/>
                </a:solidFill>
              </a:rPr>
              <a:t>upsampled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minority</a:t>
            </a:r>
            <a:r>
              <a:rPr lang="it-IT" dirty="0">
                <a:solidFill>
                  <a:schemeClr val="bg1"/>
                </a:solidFill>
              </a:rPr>
              <a:t> class by </a:t>
            </a:r>
            <a:r>
              <a:rPr lang="it-IT" dirty="0" err="1">
                <a:solidFill>
                  <a:schemeClr val="bg1"/>
                </a:solidFill>
              </a:rPr>
              <a:t>duplicating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instances</a:t>
            </a:r>
            <a:r>
              <a:rPr lang="it-IT" dirty="0">
                <a:solidFill>
                  <a:schemeClr val="bg1"/>
                </a:solidFill>
              </a:rPr>
              <a:t>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 err="1">
                <a:solidFill>
                  <a:schemeClr val="bg1"/>
                </a:solidFill>
              </a:rPr>
              <a:t>Then</a:t>
            </a:r>
            <a:r>
              <a:rPr lang="it-IT" dirty="0">
                <a:solidFill>
                  <a:schemeClr val="bg1"/>
                </a:solidFill>
              </a:rPr>
              <a:t>, I </a:t>
            </a:r>
            <a:r>
              <a:rPr lang="it-IT" dirty="0" err="1">
                <a:solidFill>
                  <a:schemeClr val="bg1"/>
                </a:solidFill>
              </a:rPr>
              <a:t>used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GridSearchCV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method</a:t>
            </a:r>
            <a:r>
              <a:rPr lang="it-IT" dirty="0">
                <a:solidFill>
                  <a:schemeClr val="bg1"/>
                </a:solidFill>
              </a:rPr>
              <a:t> from </a:t>
            </a:r>
            <a:r>
              <a:rPr lang="it-IT" dirty="0" err="1">
                <a:solidFill>
                  <a:schemeClr val="bg1"/>
                </a:solidFill>
              </a:rPr>
              <a:t>sklearn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performs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hyperparameter</a:t>
            </a:r>
            <a:r>
              <a:rPr lang="it-IT" dirty="0">
                <a:solidFill>
                  <a:schemeClr val="bg1"/>
                </a:solidFill>
              </a:rPr>
              <a:t> tuning by </a:t>
            </a:r>
            <a:r>
              <a:rPr lang="it-IT" dirty="0" err="1">
                <a:solidFill>
                  <a:schemeClr val="bg1"/>
                </a:solidFill>
              </a:rPr>
              <a:t>searching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most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performant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combination</a:t>
            </a:r>
            <a:r>
              <a:rPr lang="it-IT" dirty="0">
                <a:solidFill>
                  <a:schemeClr val="bg1"/>
                </a:solidFill>
              </a:rPr>
              <a:t> of the </a:t>
            </a:r>
            <a:r>
              <a:rPr lang="it-IT" dirty="0" err="1">
                <a:solidFill>
                  <a:schemeClr val="bg1"/>
                </a:solidFill>
              </a:rPr>
              <a:t>given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hyperameters</a:t>
            </a:r>
            <a:r>
              <a:rPr lang="it-IT" dirty="0">
                <a:solidFill>
                  <a:schemeClr val="bg1"/>
                </a:solidFill>
              </a:rPr>
              <a:t>. The </a:t>
            </a:r>
            <a:r>
              <a:rPr lang="it-IT" dirty="0" err="1">
                <a:solidFill>
                  <a:schemeClr val="bg1"/>
                </a:solidFill>
              </a:rPr>
              <a:t>method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uses</a:t>
            </a:r>
            <a:r>
              <a:rPr lang="it-IT" dirty="0">
                <a:solidFill>
                  <a:schemeClr val="bg1"/>
                </a:solidFill>
              </a:rPr>
              <a:t> cross-</a:t>
            </a:r>
            <a:r>
              <a:rPr lang="it-IT" dirty="0" err="1">
                <a:solidFill>
                  <a:schemeClr val="bg1"/>
                </a:solidFill>
              </a:rPr>
              <a:t>validation</a:t>
            </a:r>
            <a:r>
              <a:rPr lang="it-IT" dirty="0">
                <a:solidFill>
                  <a:schemeClr val="bg1"/>
                </a:solidFill>
              </a:rPr>
              <a:t> (in </a:t>
            </a:r>
            <a:r>
              <a:rPr lang="it-IT" dirty="0" err="1">
                <a:solidFill>
                  <a:schemeClr val="bg1"/>
                </a:solidFill>
              </a:rPr>
              <a:t>my</a:t>
            </a:r>
            <a:r>
              <a:rPr lang="it-IT" dirty="0">
                <a:solidFill>
                  <a:schemeClr val="bg1"/>
                </a:solidFill>
              </a:rPr>
              <a:t> case, I </a:t>
            </a:r>
            <a:r>
              <a:rPr lang="it-IT" dirty="0" err="1">
                <a:solidFill>
                  <a:schemeClr val="bg1"/>
                </a:solidFill>
              </a:rPr>
              <a:t>used</a:t>
            </a:r>
            <a:r>
              <a:rPr lang="it-IT" dirty="0">
                <a:solidFill>
                  <a:schemeClr val="bg1"/>
                </a:solidFill>
              </a:rPr>
              <a:t> a 5-fold cross </a:t>
            </a:r>
            <a:r>
              <a:rPr lang="it-IT" dirty="0" err="1">
                <a:solidFill>
                  <a:schemeClr val="bg1"/>
                </a:solidFill>
              </a:rPr>
              <a:t>validation</a:t>
            </a:r>
            <a:r>
              <a:rPr lang="it-IT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12" name="Freccia in giù 11">
            <a:extLst>
              <a:ext uri="{FF2B5EF4-FFF2-40B4-BE49-F238E27FC236}">
                <a16:creationId xmlns:a16="http://schemas.microsoft.com/office/drawing/2014/main" id="{1ABCB29A-59C9-83F1-F915-EB0BDBF02707}"/>
              </a:ext>
            </a:extLst>
          </p:cNvPr>
          <p:cNvSpPr/>
          <p:nvPr/>
        </p:nvSpPr>
        <p:spPr>
          <a:xfrm>
            <a:off x="1818082" y="3924555"/>
            <a:ext cx="484632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3F46FC1-E715-9E8B-3078-94FA778E9A9C}"/>
              </a:ext>
            </a:extLst>
          </p:cNvPr>
          <p:cNvSpPr txBox="1"/>
          <p:nvPr/>
        </p:nvSpPr>
        <p:spPr>
          <a:xfrm>
            <a:off x="2377904" y="4059996"/>
            <a:ext cx="1898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Best </a:t>
            </a:r>
            <a:r>
              <a:rPr lang="it-IT" dirty="0" err="1">
                <a:solidFill>
                  <a:schemeClr val="bg1"/>
                </a:solidFill>
              </a:rPr>
              <a:t>parameters</a:t>
            </a:r>
            <a:endParaRPr lang="it-IT" dirty="0"/>
          </a:p>
        </p:txBody>
      </p:sp>
      <p:sp>
        <p:nvSpPr>
          <p:cNvPr id="2" name="CasellaDiTesto 6">
            <a:extLst>
              <a:ext uri="{FF2B5EF4-FFF2-40B4-BE49-F238E27FC236}">
                <a16:creationId xmlns:a16="http://schemas.microsoft.com/office/drawing/2014/main" id="{764D9CFA-23FB-C0E3-B0DE-EEF3FF46A920}"/>
              </a:ext>
            </a:extLst>
          </p:cNvPr>
          <p:cNvSpPr txBox="1"/>
          <p:nvPr/>
        </p:nvSpPr>
        <p:spPr>
          <a:xfrm>
            <a:off x="4901865" y="4928653"/>
            <a:ext cx="6674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The performance of the model on the AUC ROC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0.85 on the </a:t>
            </a:r>
            <a:r>
              <a:rPr lang="it-IT" dirty="0" err="1">
                <a:solidFill>
                  <a:schemeClr val="bg1"/>
                </a:solidFill>
              </a:rPr>
              <a:t>evaluation</a:t>
            </a:r>
            <a:r>
              <a:rPr lang="it-IT" dirty="0">
                <a:solidFill>
                  <a:schemeClr val="bg1"/>
                </a:solidFill>
              </a:rPr>
              <a:t> data (20% split on training data)  </a:t>
            </a:r>
          </a:p>
        </p:txBody>
      </p:sp>
    </p:spTree>
    <p:extLst>
      <p:ext uri="{BB962C8B-B14F-4D97-AF65-F5344CB8AC3E}">
        <p14:creationId xmlns:p14="http://schemas.microsoft.com/office/powerpoint/2010/main" val="25475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333054-B450-E1F4-107F-DF464A47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988558"/>
            <a:ext cx="7810500" cy="645284"/>
          </a:xfrm>
        </p:spPr>
        <p:txBody>
          <a:bodyPr/>
          <a:lstStyle/>
          <a:p>
            <a:pPr algn="ctr"/>
            <a:r>
              <a:rPr lang="de-DE" dirty="0"/>
              <a:t>ROC </a:t>
            </a:r>
            <a:r>
              <a:rPr lang="de-DE" dirty="0" err="1"/>
              <a:t>curve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pic>
        <p:nvPicPr>
          <p:cNvPr id="5" name="Grafik 4" descr="Ein Bild, das Text, Reihe, Diagramm, Steigung enthält.&#10;&#10;Automatisch generierte Beschreibung">
            <a:extLst>
              <a:ext uri="{FF2B5EF4-FFF2-40B4-BE49-F238E27FC236}">
                <a16:creationId xmlns:a16="http://schemas.microsoft.com/office/drawing/2014/main" id="{6E2A45C6-7ECD-1121-16FB-05F85A11F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057400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5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C426385-5EF9-5D5E-D288-A7D09971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9695525" cy="645284"/>
          </a:xfrm>
        </p:spPr>
        <p:txBody>
          <a:bodyPr/>
          <a:lstStyle/>
          <a:p>
            <a:r>
              <a:rPr lang="it-IT" dirty="0"/>
              <a:t>Feature </a:t>
            </a:r>
            <a:r>
              <a:rPr lang="it-IT" dirty="0" err="1"/>
              <a:t>importance</a:t>
            </a:r>
            <a:r>
              <a:rPr lang="it-IT" dirty="0"/>
              <a:t> </a:t>
            </a:r>
            <a:r>
              <a:rPr lang="it-IT" dirty="0" err="1"/>
              <a:t>representation</a:t>
            </a:r>
            <a:endParaRPr lang="it-IT" dirty="0"/>
          </a:p>
        </p:txBody>
      </p:sp>
      <p:pic>
        <p:nvPicPr>
          <p:cNvPr id="5" name="Grafik 4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D7119C7E-BEF0-C286-979C-DE5282EB9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008" y="2066383"/>
            <a:ext cx="7745984" cy="46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85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373_TF89547415_Win32" id="{6B91ADC2-A3B7-473C-8268-003FC2155D11}" vid="{1981F5DF-6EE7-4286-B07A-1145796107E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D975AF8-B1C6-436B-A274-2C3ADC779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2F651C-E5DA-470F-A6A6-D70E9A5EBF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4273A0-A4DF-47AA-BF1F-8758123399C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annuale d’impatto</Template>
  <TotalTime>0</TotalTime>
  <Words>480</Words>
  <Application>Microsoft Macintosh PowerPoint</Application>
  <PresentationFormat>Breitbild</PresentationFormat>
  <Paragraphs>39</Paragraphs>
  <Slides>8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Arial Nova</vt:lpstr>
      <vt:lpstr>Calibri</vt:lpstr>
      <vt:lpstr>Wingdings</vt:lpstr>
      <vt:lpstr>Tema1</vt:lpstr>
      <vt:lpstr>IDA-ML1 Challenge</vt:lpstr>
      <vt:lpstr>Dataset</vt:lpstr>
      <vt:lpstr>NaN values</vt:lpstr>
      <vt:lpstr>Unbalanced dataset</vt:lpstr>
      <vt:lpstr>Model choice?</vt:lpstr>
      <vt:lpstr>Model training</vt:lpstr>
      <vt:lpstr>ROC curve performance</vt:lpstr>
      <vt:lpstr>Feature importance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Emanuele De Rossi</dc:creator>
  <cp:lastModifiedBy>Jaime Camelo</cp:lastModifiedBy>
  <cp:revision>7</cp:revision>
  <dcterms:created xsi:type="dcterms:W3CDTF">2023-07-24T07:23:07Z</dcterms:created>
  <dcterms:modified xsi:type="dcterms:W3CDTF">2023-08-28T21:04:30Z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